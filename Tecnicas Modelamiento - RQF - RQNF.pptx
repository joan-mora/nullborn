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59A3A"/>
                </a:solidFill>
                <a:latin typeface="Calibri"/>
              </a:rPr>
              <a:t>CORPORACIÓN UNIVERSITARIA MINUTO DE DIOS  —  UNIMINUTO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D6E3F0"/>
                </a:solidFill>
                <a:latin typeface="Calibri"/>
              </a:rPr>
              <a:t>Rectoría Orinoquia  ·  Sede Villavicencio (Meta)  ·  Tecnología en Desarrollo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387606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CO" sz="1800" b="0" dirty="0" err="1">
                <a:solidFill>
                  <a:srgbClr val="A8C5E2"/>
                </a:solidFill>
                <a:latin typeface="Calibri"/>
              </a:rPr>
              <a:t>Tecnicas</a:t>
            </a:r>
            <a:r>
              <a:rPr lang="es-CO" sz="1800" b="0" dirty="0">
                <a:solidFill>
                  <a:srgbClr val="A8C5E2"/>
                </a:solidFill>
                <a:latin typeface="Calibri"/>
              </a:rPr>
              <a:t> de Modelamiento de Software</a:t>
            </a:r>
            <a:endParaRPr sz="1800" b="0" dirty="0">
              <a:solidFill>
                <a:srgbClr val="A8C5E2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Tablas de requerimientos funcionales y no funcionales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8F0F8"/>
                </a:solidFill>
                <a:latin typeface="Calibri"/>
              </a:rPr>
              <a:t>Prototipo de videojuego Action-RPG para gamificar conceptos básicos de Desarrollo de Software (isomorfismo lúdico)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60520"/>
            <a:ext cx="10607040" cy="14173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279392"/>
            <a:ext cx="1024128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 err="1">
                <a:solidFill>
                  <a:srgbClr val="FFFFFF"/>
                </a:solidFill>
                <a:latin typeface="Calibri"/>
              </a:rPr>
              <a:t>Integrantes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: Darwin Joan Aveiga Mora  ·  </a:t>
            </a:r>
            <a:r>
              <a:rPr lang="es-CO" sz="1500" dirty="0" err="1">
                <a:solidFill>
                  <a:srgbClr val="FFFFFF"/>
                </a:solidFill>
                <a:latin typeface="Calibri"/>
              </a:rPr>
              <a:t>Julian</a:t>
            </a:r>
            <a:r>
              <a:rPr lang="es-CO" sz="1500" dirty="0">
                <a:solidFill>
                  <a:srgbClr val="FFFFFF"/>
                </a:solidFill>
                <a:latin typeface="Calibri"/>
              </a:rPr>
              <a:t> Esteban </a:t>
            </a:r>
            <a:r>
              <a:rPr lang="es-CO" sz="1500" dirty="0" err="1">
                <a:solidFill>
                  <a:srgbClr val="FFFFFF"/>
                </a:solidFill>
                <a:latin typeface="Calibri"/>
              </a:rPr>
              <a:t>Chavez</a:t>
            </a:r>
            <a:r>
              <a:rPr lang="es-CO" sz="1500" dirty="0">
                <a:solidFill>
                  <a:srgbClr val="FFFFFF"/>
                </a:solidFill>
                <a:latin typeface="Calibri"/>
              </a:rPr>
              <a:t> Zamora</a:t>
            </a:r>
            <a:endParaRPr sz="1500" b="0" dirty="0">
              <a:solidFill>
                <a:srgbClr val="FFFFFF"/>
              </a:solidFill>
              <a:latin typeface="Calibri"/>
            </a:endParaRPr>
          </a:p>
          <a:p>
            <a:r>
              <a:rPr sz="1500" b="0" dirty="0" err="1">
                <a:solidFill>
                  <a:srgbClr val="FFFFFF"/>
                </a:solidFill>
                <a:latin typeface="Calibri"/>
              </a:rPr>
              <a:t>Actividad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Definición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requerimientos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del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prototipo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de aula</a:t>
            </a:r>
          </a:p>
          <a:p>
            <a:r>
              <a:rPr sz="1500" b="0" dirty="0" err="1">
                <a:solidFill>
                  <a:srgbClr val="FFFFFF"/>
                </a:solidFill>
                <a:latin typeface="Calibri"/>
              </a:rPr>
              <a:t>Fecha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agosto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de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081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D6E3F0"/>
                </a:solidFill>
                <a:latin typeface="Calibri"/>
              </a:rPr>
              <a:t>Cliente Unity (vertical slice 3D)  →  API  →  PostgreSQL OLTP  ·  Integridad = HP  ·  CPU = stamina  ·  Enemigos = fugas  ·  GC = cura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5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6032" y="164592"/>
            <a:ext cx="512064" cy="51206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201168"/>
            <a:ext cx="512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REQUERIMIENTOS FUNCIONALES Y NO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6E3F0"/>
                </a:solidFill>
                <a:latin typeface="Calibri"/>
              </a:rPr>
              <a:t>Definiciones del curso aplicadas al prototipo Action-RPG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6656832"/>
            <a:ext cx="591219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dirty="0">
                <a:solidFill>
                  <a:srgbClr val="FFFFFF"/>
                </a:solidFill>
                <a:latin typeface="Calibri"/>
              </a:rPr>
              <a:t>UNIMINUTO Villavicencio  · 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Tecnología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Desarrollo de Software  · </a:t>
            </a:r>
            <a:r>
              <a:rPr lang="es-CO" sz="900" b="0" dirty="0" err="1">
                <a:solidFill>
                  <a:srgbClr val="FFFFFF"/>
                </a:solidFill>
                <a:latin typeface="Calibri"/>
              </a:rPr>
              <a:t>Tecnicas</a:t>
            </a:r>
            <a:r>
              <a:rPr lang="es-CO" sz="900" b="0" dirty="0">
                <a:solidFill>
                  <a:srgbClr val="FFFFFF"/>
                </a:solidFill>
                <a:latin typeface="Calibri"/>
              </a:rPr>
              <a:t> de Modelamiento de Software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 ·  Agosto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5669280" cy="416052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0040" y="1115568"/>
            <a:ext cx="5669280" cy="502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170432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Requerimientos funcionales (RF)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37360"/>
            <a:ext cx="5303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Son las funciones y comportamientos que debe realizar el software para satisfacer las necesidades del usuario y cumplir los objetivos del sistema.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Describen QUÉ debe hacer el sistema, no cómo lo hará.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En el prototipo: identificarse, jugar el vertical slice, ver el HUD (integridad, CPU y RAM), enfrentar fugas, activar GC, ganar o perder (crash) y persistir Jugador, Sesion, Nivel, ProgresoSesion, TipoBug, InstanciaBug y EventoGC.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Son verificables: cada RF se prueba con criterios de aceptación.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115568"/>
            <a:ext cx="5669280" cy="4160520"/>
          </a:xfrm>
          <a:prstGeom prst="roundRect">
            <a:avLst/>
          </a:prstGeom>
          <a:solidFill>
            <a:srgbClr val="F3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1115568"/>
            <a:ext cx="5669280" cy="502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170432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Requerimientos no funcionales (RNF)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37360"/>
            <a:ext cx="5303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Son las restricciones y atributos de calidad que debe cumplir el software. No describen funciones específicas, sino cómo debe comportarse el sistema.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Se enfocan en CÓMO debe ser el sistema, no en QUÉ debe hacer.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En el prototipo: 60 FPS, no consultar SQL en cada frame, proteger el correo del estudiante, respaldos, disponibilidad de laboratorio, usabilidad, mantenibilidad y build Windows.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Deben ser medibles: cada RNF incluye métricas de aceptación.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39496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4A4A"/>
                </a:solidFill>
                <a:latin typeface="Calibri"/>
              </a:rPr>
              <a:t>Prioridad: Alta (imprescindible para el vertical slice y la persistencia ACID), Media (mejora la experiencia o la operación académica) o Baja. El formato de las tablas sigue las columnas del caso de análisis del curso: Código, Nombre del Requerimiento, Descripción, Actor(es) o Tipo, Prioridad y Criterios de Aceptación.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5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6032" y="164592"/>
            <a:ext cx="512064" cy="51206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201168"/>
            <a:ext cx="512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REQUERIMIENTOS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6E3F0"/>
                </a:solidFill>
                <a:latin typeface="Calibri"/>
              </a:rPr>
              <a:t>El sistema debe permitir al usuario realizar las siguientes funciones  ·  Tabla 1 de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6656832"/>
            <a:ext cx="594425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dirty="0">
                <a:solidFill>
                  <a:srgbClr val="FFFFFF"/>
                </a:solidFill>
                <a:latin typeface="Calibri"/>
              </a:rPr>
              <a:t>UNIMINUTO Villavicencio  · 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Tecnología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Desarrollo de Software  · </a:t>
            </a:r>
            <a:r>
              <a:rPr lang="es-CO" sz="900" dirty="0" err="1">
                <a:solidFill>
                  <a:srgbClr val="FFFFFF"/>
                </a:solidFill>
              </a:rPr>
              <a:t>Tecnicas</a:t>
            </a:r>
            <a:r>
              <a:rPr lang="es-CO" sz="900" dirty="0">
                <a:solidFill>
                  <a:srgbClr val="FFFFFF"/>
                </a:solidFill>
              </a:rPr>
              <a:t> de Modelamiento de Software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 ·  Agosto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56032" y="1024128"/>
          <a:ext cx="11676887" cy="5422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4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Código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Nombre del Requerimiento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Actor(es)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Reglas / Criterios de Aceptación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Identificación del estudiante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permitir al estudiante registrarse e iniciar sesión con nombre y correo institucional.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Estudiante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El correo debe ser único y con formato válido.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Los datos se persisten en la entidad Jugador.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RF-02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Gestión de perfil del jugador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permitir consultar y actualizar los datos básicos del jugador.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Estudiante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659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anchor="ctr"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Solo el titular puede editar su perfil.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El correo no se muestra completo en el HUD de juego.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Inicio de sesión de juego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crear una Sesion asociada al jugador al comenzar una partida.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Estudiante / Sistema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Cada sesión registra fecha de inicio y estado (activa o finalizada).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Se genera un identificador único de Sesion.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RF-04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Bucle de juego Action-RPG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permitir controlar un personaje 3D simple (cápsula o cubos) en un vertical slice de exploración y combate.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Estudiante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El jugador puede moverse, atacar y usar la habilidad de recolección.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El prototipo cubre al menos un nivel jugable completo.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5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6032" y="164592"/>
            <a:ext cx="512064" cy="51206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201168"/>
            <a:ext cx="512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REQUERIMIENTOS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6E3F0"/>
                </a:solidFill>
                <a:latin typeface="Calibri"/>
              </a:rPr>
              <a:t>El sistema debe permitir al usuario realizar las siguientes funciones  ·  Tabla 2 de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6656832"/>
            <a:ext cx="594425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dirty="0">
                <a:solidFill>
                  <a:srgbClr val="FFFFFF"/>
                </a:solidFill>
                <a:latin typeface="Calibri"/>
              </a:rPr>
              <a:t>UNIMINUTO Villavicencio  · 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Tecnología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Desarrollo de Software  · </a:t>
            </a:r>
            <a:r>
              <a:rPr lang="es-CO" sz="900" dirty="0" err="1">
                <a:solidFill>
                  <a:srgbClr val="FFFFFF"/>
                </a:solidFill>
              </a:rPr>
              <a:t>Tecnicas</a:t>
            </a:r>
            <a:r>
              <a:rPr lang="es-CO" sz="900" dirty="0">
                <a:solidFill>
                  <a:srgbClr val="FFFFFF"/>
                </a:solidFill>
              </a:rPr>
              <a:t> de Modelamiento de Software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 ·  Agosto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56032" y="1024128"/>
          <a:ext cx="11676887" cy="5422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4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Código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Nombre del Requerimiento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Actor(es)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Reglas / Criterios de Aceptación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HUD de integridad del sistema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mostrar en pantalla la integridad del sistema (HP del isomorfismo) en tiempo real.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Estudiante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La integridad se representa en escala 0–100.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El HUD se actualiza en el cliente sin consultar SQL en cada frame.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RF-06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HUD de ciclos de CPU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mostrar la stamina del jugador como ciclos de CPU disponibles.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Estudiante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Los ataques y habilidades consumen ciclos de CPU.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El valor de CPU no puede ser negativo.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Indicador de uso de 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mostrar la RAM usada frente a la RAM total definida para el nivel.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Estudiante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RAM usada ≤ ram_total de la entidad Nivel.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El indicador advierte visualmente cuando el uso es alto.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RF-08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Enemigos como bugs y fugas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generar enemigos según el catálogo TipoBug (bugs y memory leaks) e instanciarlos como InstanciaBug.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Sistema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Cada instancia referencia un TipoBug válido.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Al aparecer, incrementa ram_usada de ProgresoSesion.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5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6032" y="164592"/>
            <a:ext cx="512064" cy="51206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201168"/>
            <a:ext cx="512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REQUERIMIENTOS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6E3F0"/>
                </a:solidFill>
                <a:latin typeface="Calibri"/>
              </a:rPr>
              <a:t>El sistema debe permitir al usuario realizar las siguientes funciones  ·  Tabla 3 de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6656832"/>
            <a:ext cx="594425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dirty="0">
                <a:solidFill>
                  <a:srgbClr val="FFFFFF"/>
                </a:solidFill>
                <a:latin typeface="Calibri"/>
              </a:rPr>
              <a:t>UNIMINUTO Villavicencio  · 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Tecnología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Desarrollo de Software  · </a:t>
            </a:r>
            <a:r>
              <a:rPr lang="es-CO" sz="900" dirty="0" err="1">
                <a:solidFill>
                  <a:srgbClr val="FFFFFF"/>
                </a:solidFill>
              </a:rPr>
              <a:t>Tecnicas</a:t>
            </a:r>
            <a:r>
              <a:rPr lang="es-CO" sz="900" dirty="0">
                <a:solidFill>
                  <a:srgbClr val="FFFFFF"/>
                </a:solidFill>
              </a:rPr>
              <a:t> de Modelamiento de Software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 ·  Agosto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56032" y="1024128"/>
          <a:ext cx="11676887" cy="5422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4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Código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Nombre del Requerimiento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Actor(es)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Reglas / Criterios de Aceptación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Daño a la integridad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reducir la integridad cuando las fugas no se contienen o la RAM satura.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Sistema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La integridad permanece en el intervalo 0–100.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El daño queda reflejado en ProgresoSesion.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RF-10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Garbage Collection (curación)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permitir activar Garbage Collection como acción de curación, liberando RAM y restaurando integridad.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Estudiante / Sistema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La acción consume ciclos de CPU.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El evento se registra de forma atómica en EventoGC (transacción ACID).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Condición de derrota (crash)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finalizar la partida con fallo (crash) cuando la integridad llega a 0.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Sistema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Se muestra un mensaje de crash del sistema.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La Sesion se marca como finalizada con resultado de derrota.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RF-12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Condición de victoria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declarar victoria al completar los objetivos del nivel (contener fugas o alcanzar la salida).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Sistema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El progreso del nivel se guarda en ProgresoSesion.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El resultado de victoria queda asociado a la Sesion.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5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6032" y="164592"/>
            <a:ext cx="512064" cy="51206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201168"/>
            <a:ext cx="512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REQUERIMIENTOS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6E3F0"/>
                </a:solidFill>
                <a:latin typeface="Calibri"/>
              </a:rPr>
              <a:t>El sistema debe permitir al usuario realizar las siguientes funciones  ·  Tabla 4 de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6656832"/>
            <a:ext cx="594425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dirty="0">
                <a:solidFill>
                  <a:srgbClr val="FFFFFF"/>
                </a:solidFill>
                <a:latin typeface="Calibri"/>
              </a:rPr>
              <a:t>UNIMINUTO Villavicencio  · 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Tecnología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Desarrollo de Software  · </a:t>
            </a:r>
            <a:r>
              <a:rPr lang="es-CO" sz="900" dirty="0" err="1">
                <a:solidFill>
                  <a:srgbClr val="FFFFFF"/>
                </a:solidFill>
              </a:rPr>
              <a:t>Tecnicas</a:t>
            </a:r>
            <a:r>
              <a:rPr lang="es-CO" sz="900" dirty="0">
                <a:solidFill>
                  <a:srgbClr val="FFFFFF"/>
                </a:solidFill>
              </a:rPr>
              <a:t> de Modelamiento de Software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 ·  Agosto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56032" y="1024128"/>
          <a:ext cx="11676887" cy="5422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4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Código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Nombre del Requerimiento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Actor(es)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Reglas / Criterios de Aceptación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Selección de nivel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permitir elegir un Nivel del catálogo (nombre, dificultad y ram_total).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Estudiante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Los niveles provienen de la entidad Nivel, no de texto libre en el cliente.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Antes de entrar se muestra dificultad y RAM del nivel.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RF-14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Aplicación de dificultad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aplicar la dificultad del nivel a la frecuencia de fugas y al daño sobre la integridad.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Sistema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659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anchor="ctr"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La dificultad es atributo de Nivel.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Mayor dificultad implica más InstanciaBug o mayor ram_consumida.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Alerta audiovisual de RAM crítica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alertar con efectos visuales y de audio cuando la RAM supera un umbral de riesgo.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Sistema / Estudiante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659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anchor="ctr"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Umbral configurable (por ejemplo, ≥ 80 % de ram_total).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La alerta no bloquea el control del personaje.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RF-16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Pausa y reanudación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permitir pausar y reanudar la partida sin perder el estado en memoria.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Estudiante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659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anchor="ctr"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Durante la pausa no se generan nuevos bugs.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Al reanudar se conservan integridad, CPU y RAM.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5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6032" y="164592"/>
            <a:ext cx="512064" cy="51206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201168"/>
            <a:ext cx="512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REQUERIMIENTOS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6E3F0"/>
                </a:solidFill>
                <a:latin typeface="Calibri"/>
              </a:rPr>
              <a:t>El sistema debe permitir al usuario realizar las siguientes funciones  ·  Tabla 5 de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6656832"/>
            <a:ext cx="594425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dirty="0">
                <a:solidFill>
                  <a:srgbClr val="FFFFFF"/>
                </a:solidFill>
                <a:latin typeface="Calibri"/>
              </a:rPr>
              <a:t>UNIMINUTO Villavicencio  · 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Tecnología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Desarrollo de Software  · </a:t>
            </a:r>
            <a:r>
              <a:rPr lang="es-CO" sz="900" dirty="0" err="1">
                <a:solidFill>
                  <a:srgbClr val="FFFFFF"/>
                </a:solidFill>
              </a:rPr>
              <a:t>Tecnicas</a:t>
            </a:r>
            <a:r>
              <a:rPr lang="es-CO" sz="900" dirty="0">
                <a:solidFill>
                  <a:srgbClr val="FFFFFF"/>
                </a:solidFill>
              </a:rPr>
              <a:t> de Modelamiento de Software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 ·  Agosto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56032" y="1024128"/>
          <a:ext cx="11676887" cy="5422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4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Código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Nombre del Requerimiento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Actor(es)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Reglas / Criterios de Aceptación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Persistencia de progreso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persistir ProgresoSesion (integridad, ciclos_cpu, ram_usada) mediante API hacia PostgreSQL (OLTP).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Sistema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Unity no es la fuente de verdad a largo plazo.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El guardado se dispara por eventos o autoguardado, no en cada frame.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RF-18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Registro transaccional de EventoGC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registrar cada recolección como EventoGC, junto con RAM liberada e integridad resultante, en una sola transacción ACID.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Sistema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Todo se confirma (COMMIT) o nada se persiste.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Queda traza auditable por sesión.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Historial de partidas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permitir al estudiante consultar sesiones previas, niveles jugados y eventos de GC.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Estudiante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659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anchor="ctr"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La consulta se realiza vía API (sin SQL directo desde Unity).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Se listan fecha, nivel, resultado e integridad final.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RF-20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Cierre de sesión de juego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finalizar la Sesion, persistir el estado y liberar recursos del cliente.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Estudiante / Sistema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Se registra fecha de fin.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El estado de la Sesion pasa a finalizada.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5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6032" y="164592"/>
            <a:ext cx="512064" cy="51206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201168"/>
            <a:ext cx="512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REQUERIMIENTOS NO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6E3F0"/>
                </a:solidFill>
                <a:latin typeface="Calibri"/>
              </a:rPr>
              <a:t>Características de calidad que debe cumplir el sistema  ·  Tabla 1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6656832"/>
            <a:ext cx="594425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dirty="0">
                <a:solidFill>
                  <a:srgbClr val="FFFFFF"/>
                </a:solidFill>
                <a:latin typeface="Calibri"/>
              </a:rPr>
              <a:t>UNIMINUTO Villavicencio  · 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Tecnología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Desarrollo de Software  · </a:t>
            </a:r>
            <a:r>
              <a:rPr lang="es-CO" sz="900" dirty="0" err="1">
                <a:solidFill>
                  <a:srgbClr val="FFFFFF"/>
                </a:solidFill>
              </a:rPr>
              <a:t>Tecnicas</a:t>
            </a:r>
            <a:r>
              <a:rPr lang="es-CO" sz="900" dirty="0">
                <a:solidFill>
                  <a:srgbClr val="FFFFFF"/>
                </a:solidFill>
              </a:rPr>
              <a:t> de Modelamiento de Software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 ·  Agosto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56032" y="1024128"/>
          <a:ext cx="11676888" cy="5422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30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Código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Nombre del Requerimiento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Tipo de Requerimiento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Criterios de Aceptación / Métricas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RNF-01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Usabilidad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ser intuitivo para estudiantes de TCDS sin experiencia previa en Action-RPG.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Usabilidad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HUD etiquetado (Integridad, CPU, RAM) desde la primera sesión.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Acciones principales (mover, atacar, GC) aprendibles en menos de 5 minutos.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RNF-02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Rendimiento del cliente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prototipo debe mantener 60 FPS en el vertical slice y no consultar SQL en cada frame.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Rendimiento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Tiempo de frame ≤ 16,6 ms en hardware de laboratorio Windows.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La persistencia ocurre por eventos o autoguardado, no por tick de render.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RNF-03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Tiempo de respuesta de la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Las operaciones de guardado y consulta deben responder en menos de 3 segundos en red local de laboratorio.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Rendimiento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Guardado de ProgresoSesion &lt; 3 s.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Listado de historial de partidas &lt; 3 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RNF-04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Seguridad de datos del estudiante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proteger el correo y la identidad del estudiante mediante autenticación y almacenamiento controlado.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Seguridad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Las contraseñas no se almacenan en texto plano.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El correo no se expone en logs públicos ni completo en el HUD.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RNF-05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Disponibilidad del servicio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servicio de persistencia debe estar disponible durante las jornadas de playtesting académico.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Disponibilidad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659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anchor="ctr"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Ventana de servicio en horarios de clase y laboratorio.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Si la API no responde, el cliente permite continuar y encola (enfoque CAP del taller).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5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6032" y="164592"/>
            <a:ext cx="512064" cy="51206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201168"/>
            <a:ext cx="512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REQUERIMIENTOS NO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6E3F0"/>
                </a:solidFill>
                <a:latin typeface="Calibri"/>
              </a:rPr>
              <a:t>Características de calidad que debe cumplir el sistema  ·  Tabla 2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6656832"/>
            <a:ext cx="594425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dirty="0">
                <a:solidFill>
                  <a:srgbClr val="FFFFFF"/>
                </a:solidFill>
                <a:latin typeface="Calibri"/>
              </a:rPr>
              <a:t>UNIMINUTO Villavicencio  · 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Tecnología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Desarrollo de Software  · </a:t>
            </a:r>
            <a:r>
              <a:rPr lang="es-CO" sz="900" dirty="0" err="1">
                <a:solidFill>
                  <a:srgbClr val="FFFFFF"/>
                </a:solidFill>
              </a:rPr>
              <a:t>Tecnicas</a:t>
            </a:r>
            <a:r>
              <a:rPr lang="es-CO" sz="900" dirty="0">
                <a:solidFill>
                  <a:srgbClr val="FFFFFF"/>
                </a:solidFill>
              </a:rPr>
              <a:t> de Modelamiento de Software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 ·  Agosto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56032" y="1024128"/>
          <a:ext cx="11676888" cy="5422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30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Código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Nombre del Requerimiento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Tipo de Requerimiento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Criterios de Aceptación / Métricas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RNF-06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Portabilidad Windows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cliente de juego debe empaquetarse como build ejecutable para Windows.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Portabilidad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Ejecutable para Windows 10/11 de 64 bits.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No se requiere el editor de Unity para jugar el vertical slice.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RNF-07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Mantenibilidad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código y el esquema deben permitir incorporar nuevos TipoBug o niveles sin reescribir el núcleo.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Mantenibilidad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659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anchor="ctr"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Catálogos Nivel y TipoBug independientes de InstanciaBug (3FN).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Documentación mínima: GDD y diccionario de datos.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RNF-08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Confiabilidad e integridad ACID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Las transacciones de GC y progreso deben cumplir atomicidad, consistencia, aislamiento y durabilidad.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Confiabilidad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Integridad 0–100; CPU ≥ 0; RAM usada ≤ ram_total.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Un comando de juego equivale a una transacción; se evitan escrituras sucias.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RNF-09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Respaldos de la base de datos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PostgreSQL debe contar con copias de seguridad periódicas del esquema y de los datos de playtesting.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Disponibilidad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Respaldo al menos diario en el periodo de pruebas.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Restauración verificada al menos una vez por sprint.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RNF-10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Escalabilidad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esquema OLTP debe soportar el crecimiento de sesiones y eventos sin degradar el prototipo de aula.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Escalabilidad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659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anchor="ctr"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Decenas de estudiantes concurrentes en laboratorio.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Índices en claves foráneas de Sesion, InstanciaBug y EventoGC.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5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6032" y="164592"/>
            <a:ext cx="512064" cy="51206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201168"/>
            <a:ext cx="512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REQUERIMIENTOS NO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6E3F0"/>
                </a:solidFill>
                <a:latin typeface="Calibri"/>
              </a:rPr>
              <a:t>Características de calidad que debe cumplir el sistema  ·  Tabla 3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6656832"/>
            <a:ext cx="594425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dirty="0">
                <a:solidFill>
                  <a:srgbClr val="FFFFFF"/>
                </a:solidFill>
                <a:latin typeface="Calibri"/>
              </a:rPr>
              <a:t>UNIMINUTO Villavicencio  · 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Tecnología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Desarrollo de Software  · </a:t>
            </a:r>
            <a:r>
              <a:rPr lang="es-CO" sz="900" dirty="0" err="1">
                <a:solidFill>
                  <a:srgbClr val="FFFFFF"/>
                </a:solidFill>
              </a:rPr>
              <a:t>Tecnicas</a:t>
            </a:r>
            <a:r>
              <a:rPr lang="es-CO" sz="900" dirty="0">
                <a:solidFill>
                  <a:srgbClr val="FFFFFF"/>
                </a:solidFill>
              </a:rPr>
              <a:t> de Modelamiento de Software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 ·  Agosto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56032" y="1024128"/>
          <a:ext cx="11676888" cy="5422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30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Código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Nombre del Requerimiento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Tipo de Requerimiento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Criterios de Aceptación / Métricas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RNF-11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Compatibilidad tecnológica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cliente debe ejecutarse en Unity 3D simple (primitivas) sobre Windows, con API y PostgreSQL en el entorno del curso.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Compatibilidad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Build Windows alineado con la versión de Unity del prototipo.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PostgreSQL como SGBD OLTP de persistencia.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RNF-12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Claridad del isomorfismo lúdico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isomorfismo (integridad = HP, CPU = stamina, enemigos = fugas, GC = cura) debe ser legible en el HUD y en los mensajes.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Usabilidad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Las etiquetas del HUD usan los términos del isomorfismo.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Al ganar o perder se explica la analogía (sistema estable vs crash).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RNF-13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Trazabilidad académica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El sistema debe conservar historial de EventoGC e InstanciaBug para revisión de sesiones de clase.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Seguridad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659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anchor="ctr"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No se eliminan eventos de GC de sesiones evaluadas.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Las consultas de auditoría se realizan vía API.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</a:rPr>
                        <a:t>RNF-14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Despliegue en laboratorio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La instalación en equipos de UNIMINUTO Villavicencio no debe requerir más que una guía corta de despliegue.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Portabilidad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659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anchor="ctr"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Instrucciones de build, API y conexión a PostgreSQL.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• Cadena de conexión fuera del código compilado (archivo de entorno).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5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6032" y="164592"/>
            <a:ext cx="512064" cy="51206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201168"/>
            <a:ext cx="512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SÍNTESIS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6E3F0"/>
                </a:solidFill>
                <a:latin typeface="Calibri"/>
              </a:rPr>
              <a:t>Alcance de los requerimientos del prototipo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6656832"/>
            <a:ext cx="594425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dirty="0">
                <a:solidFill>
                  <a:srgbClr val="FFFFFF"/>
                </a:solidFill>
                <a:latin typeface="Calibri"/>
              </a:rPr>
              <a:t>UNIMINUTO Villavicencio  · 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Tecnología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Desarrollo de Software  · </a:t>
            </a:r>
            <a:r>
              <a:rPr lang="es-CO" sz="900" dirty="0" err="1">
                <a:solidFill>
                  <a:srgbClr val="FFFFFF"/>
                </a:solidFill>
              </a:rPr>
              <a:t>Tecnicas</a:t>
            </a:r>
            <a:r>
              <a:rPr lang="es-CO" sz="900" dirty="0">
                <a:solidFill>
                  <a:srgbClr val="FFFFFF"/>
                </a:solidFill>
              </a:rPr>
              <a:t> de Modelamiento de Software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 ·  Agosto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88720"/>
            <a:ext cx="2788920" cy="429768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0040" y="1188720"/>
            <a:ext cx="2788920" cy="64008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1280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20 RF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2011680"/>
            <a:ext cx="248716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Funciones del vertical slice, HUD, fugas, GC, victoria/derrota, identidad del estudiante y persistencia OLTP.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1188720"/>
            <a:ext cx="2788920" cy="429768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64408" y="1188720"/>
            <a:ext cx="2788920" cy="64008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74136" y="1280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14 RNF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011680"/>
            <a:ext cx="248716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Calidad: usabilidad, rendimiento (60 FPS), seguridad del correo, disponibilidad, respaldos, ACID, portabilidad Windows.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1188720"/>
            <a:ext cx="2788920" cy="429768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08776" y="1188720"/>
            <a:ext cx="2788920" cy="64008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18504" y="1280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Persistencia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011680"/>
            <a:ext cx="248716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Unity → API → PostgreSQL. Entidades: Jugador, Sesion, Nivel, ProgresoSesion, TipoBug, InstanciaBug, EventoGC.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144" y="1188720"/>
            <a:ext cx="2788920" cy="429768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53144" y="1188720"/>
            <a:ext cx="2788920" cy="64008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62872" y="1280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Objetivo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2011680"/>
            <a:ext cx="248716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Asegurar un prototipo jugable, pedagógico y con datos confiables para gamificar conceptos básicos de desarrollo de software.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2526</Words>
  <Application>Microsoft Office PowerPoint</Application>
  <PresentationFormat>Panorámica</PresentationFormat>
  <Paragraphs>354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Darwin Joan A. Mora</cp:lastModifiedBy>
  <cp:revision>2</cp:revision>
  <dcterms:created xsi:type="dcterms:W3CDTF">2013-01-27T09:14:16Z</dcterms:created>
  <dcterms:modified xsi:type="dcterms:W3CDTF">2026-08-20T12:44:05Z</dcterms:modified>
  <cp:category/>
</cp:coreProperties>
</file>